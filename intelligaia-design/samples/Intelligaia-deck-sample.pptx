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0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embeddedFontLst>
    <p:embeddedFont>
      <p:font typeface="Trirong"/>
      <p:regular r:id="rId9"/>
      <p:bold r:id="rId10"/>
      <p:italic r:id="rId11"/>
    </p:embeddedFont>
    <p:embeddedFont>
      <p:font typeface="Raleway"/>
      <p:regular r:id="rId12"/>
      <p:bold r:id="rId13"/>
      <p:italic r:id="rId14"/>
    </p:embeddedFont>
    <p:embeddedFont>
      <p:font typeface="Azeret Mono"/>
      <p:regular r:id="rId15"/>
      <p:bold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font" Target="fonts/font3.fntdata"/><Relationship Id="rId12" Type="http://schemas.openxmlformats.org/officeDocument/2006/relationships/font" Target="fonts/font4.fntdata"/><Relationship Id="rId13" Type="http://schemas.openxmlformats.org/officeDocument/2006/relationships/font" Target="fonts/font5.fntdata"/><Relationship Id="rId14" Type="http://schemas.openxmlformats.org/officeDocument/2006/relationships/font" Target="fonts/font6.fntdata"/><Relationship Id="rId15" Type="http://schemas.openxmlformats.org/officeDocument/2006/relationships/font" Target="fonts/font7.fntdata"/><Relationship Id="rId16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10424160" y="365760"/>
            <a:ext cx="1280160" cy="1152144"/>
          </a:xfrm>
          <a:prstGeom prst="hexagon">
            <a:avLst/>
          </a:prstGeom>
          <a:ln w="12700">
            <a:solidFill>
              <a:srgbClr val="FFD923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5400000">
            <a:off x="11155680" y="1143000"/>
            <a:ext cx="1280160" cy="1152144"/>
          </a:xfrm>
          <a:prstGeom prst="hexagon">
            <a:avLst/>
          </a:prstGeom>
          <a:ln w="12700">
            <a:solidFill>
              <a:srgbClr val="FFD923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5400000">
            <a:off x="9692640" y="1143000"/>
            <a:ext cx="1280160" cy="1152144"/>
          </a:xfrm>
          <a:prstGeom prst="hexagon">
            <a:avLst/>
          </a:prstGeom>
          <a:ln w="12700">
            <a:solidFill>
              <a:srgbClr val="FFD923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5400000">
            <a:off x="10424160" y="1920240"/>
            <a:ext cx="1280160" cy="1152144"/>
          </a:xfrm>
          <a:prstGeom prst="hexagon">
            <a:avLst/>
          </a:prstGeom>
          <a:ln w="12700">
            <a:solidFill>
              <a:srgbClr val="FFD923">
                <a:alpha val="18000"/>
              </a:srgbClr>
            </a:solidFill>
            <a:prstDash val="solid"/>
          </a:ln>
        </p:spPr>
      </p:sp>
      <p:pic>
        <p:nvPicPr>
          <p:cNvPr id="6" name="Image 0" descr="../assets/intelligaia-logo-full-cr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02920"/>
            <a:ext cx="2103120" cy="777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554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FFD923"/>
                </a:solidFill>
                <a:latin typeface="Azeret Mono" pitchFamily="34" charset="0"/>
                <a:ea typeface="Azeret Mono" pitchFamily="34" charset="-122"/>
                <a:cs typeface="Azeret Mono" pitchFamily="34" charset="-120"/>
              </a:rPr>
              <a:t>CAPABILITY BRIEF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94360" y="1965960"/>
            <a:ext cx="10424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600" dirty="0">
                <a:solidFill>
                  <a:srgbClr val="FAFAF6"/>
                </a:solidFill>
                <a:latin typeface="Trirong" pitchFamily="34" charset="0"/>
                <a:ea typeface="Trirong" pitchFamily="34" charset="-122"/>
                <a:cs typeface="Trirong" pitchFamily="34" charset="-120"/>
              </a:rPr>
              <a:t>From proof-of-concept to </a:t>
            </a:r>
            <a:pPr algn="l" indent="0" marL="0">
              <a:lnSpc>
                <a:spcPct val="100000"/>
              </a:lnSpc>
              <a:buNone/>
            </a:pPr>
            <a:r>
              <a:rPr lang="en-US" sz="4600" i="1" dirty="0">
                <a:solidFill>
                  <a:srgbClr val="FFD923"/>
                </a:solidFill>
                <a:latin typeface="Trirong" pitchFamily="34" charset="0"/>
                <a:ea typeface="Trirong" pitchFamily="34" charset="-122"/>
                <a:cs typeface="Trirong" pitchFamily="34" charset="-120"/>
              </a:rPr>
              <a:t>production-ready.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640080" y="402336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AEAE9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Intelligaia is an AI-centred design and engineering firm. We take AI proofs-of-concept to production-ready solutions — owning the complete outcome from first Workshop to final deployment.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817352" y="6355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9F"/>
                </a:solidFill>
                <a:latin typeface="Azeret Mono" pitchFamily="34" charset="0"/>
                <a:ea typeface="Azeret Mono" pitchFamily="34" charset="-122"/>
                <a:cs typeface="Azeret Mono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C49A00"/>
                </a:solidFill>
                <a:latin typeface="Azeret Mono" pitchFamily="34" charset="0"/>
                <a:ea typeface="Azeret Mono" pitchFamily="34" charset="-122"/>
                <a:cs typeface="Azeret Mono" pitchFamily="34" charset="-120"/>
              </a:rPr>
              <a:t>HOW WE 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0D0D0A"/>
                </a:solidFill>
                <a:latin typeface="Trirong" pitchFamily="34" charset="0"/>
                <a:ea typeface="Trirong" pitchFamily="34" charset="-122"/>
                <a:cs typeface="Trirong" pitchFamily="34" charset="-120"/>
              </a:rPr>
              <a:t>Three stages. One outcome.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9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Most firms deliver a technical build. We own the outcome — design and engineering working together so what ships actually gets used.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 rot="5400000">
            <a:off x="566928" y="2761488"/>
            <a:ext cx="146304" cy="137160"/>
          </a:xfrm>
          <a:prstGeom prst="hexagon">
            <a:avLst/>
          </a:prstGeom>
          <a:solidFill>
            <a:srgbClr val="FFD923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660904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19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UX/UI design and scalable design systems.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 rot="5400000">
            <a:off x="566928" y="3328416"/>
            <a:ext cx="146304" cy="137160"/>
          </a:xfrm>
          <a:prstGeom prst="hexagon">
            <a:avLst/>
          </a:prstGeom>
          <a:solidFill>
            <a:srgbClr val="FFD923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227832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19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 POC development — multi-agent, RAG, LLM integration.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 rot="5400000">
            <a:off x="566928" y="3895344"/>
            <a:ext cx="146304" cy="137160"/>
          </a:xfrm>
          <a:prstGeom prst="hexagon">
            <a:avLst/>
          </a:prstGeom>
          <a:solidFill>
            <a:srgbClr val="FFD923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79476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19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Front-end &amp; full-stack engineering at enterprise scale.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 rot="5400000">
            <a:off x="566928" y="4462272"/>
            <a:ext cx="146304" cy="137160"/>
          </a:xfrm>
          <a:prstGeom prst="hexagon">
            <a:avLst/>
          </a:prstGeom>
          <a:solidFill>
            <a:srgbClr val="FFD923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361688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191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Discovery workshops and roadmap definition.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600200"/>
          <a:ext cx="50749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697480"/>
                <a:gridCol w="10058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spc="100" kern="0" dirty="0">
                          <a:solidFill>
                            <a:srgbClr val="6B6B62"/>
                          </a:solidFill>
                          <a:latin typeface="Azeret Mono" pitchFamily="34" charset="0"/>
                          <a:ea typeface="Azeret Mono" pitchFamily="34" charset="-122"/>
                          <a:cs typeface="Azeret Mono" pitchFamily="34" charset="-120"/>
                        </a:rPr>
                        <a:t>STAGE</a:t>
                      </a:r>
                      <a:endParaRPr lang="en-US" sz="850" dirty="0">
                        <a:latin typeface="Azeret Mono" charset="0"/>
                        <a:ea typeface="Azeret Mono" charset="0"/>
                        <a:cs typeface="Azeret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9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spc="100" kern="0" dirty="0">
                          <a:solidFill>
                            <a:srgbClr val="6B6B62"/>
                          </a:solidFill>
                          <a:latin typeface="Azeret Mono" pitchFamily="34" charset="0"/>
                          <a:ea typeface="Azeret Mono" pitchFamily="34" charset="-122"/>
                          <a:cs typeface="Azeret Mono" pitchFamily="34" charset="-120"/>
                        </a:rPr>
                        <a:t>WHAT IT IS</a:t>
                      </a:r>
                      <a:endParaRPr lang="en-US" sz="850" dirty="0">
                        <a:latin typeface="Azeret Mono" charset="0"/>
                        <a:ea typeface="Azeret Mono" charset="0"/>
                        <a:cs typeface="Azeret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9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spc="100" kern="0" dirty="0">
                          <a:solidFill>
                            <a:srgbClr val="6B6B62"/>
                          </a:solidFill>
                          <a:latin typeface="Azeret Mono" pitchFamily="34" charset="0"/>
                          <a:ea typeface="Azeret Mono" pitchFamily="34" charset="-122"/>
                          <a:cs typeface="Azeret Mono" pitchFamily="34" charset="-120"/>
                        </a:rPr>
                        <a:t>LENGTH</a:t>
                      </a:r>
                      <a:endParaRPr lang="en-US" sz="850" dirty="0">
                        <a:latin typeface="Azeret Mono" charset="0"/>
                        <a:ea typeface="Azeret Mono" charset="0"/>
                        <a:cs typeface="Azeret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9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D0D0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Workshops</a:t>
                      </a:r>
                      <a:endParaRPr lang="en-US" sz="11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9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Discovery, AI mapping, roadmap</a:t>
                      </a:r>
                      <a:endParaRPr lang="en-US" sz="11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9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1–3 wks</a:t>
                      </a:r>
                      <a:endParaRPr lang="en-US" sz="11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D0D0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Labs</a:t>
                      </a:r>
                      <a:endParaRPr lang="en-US" sz="11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9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Proof-of-concept &amp; prototype builds</a:t>
                      </a:r>
                      <a:endParaRPr lang="en-US" sz="11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9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8–12 wks</a:t>
                      </a:r>
                      <a:endParaRPr lang="en-US" sz="11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D0D0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Studio</a:t>
                      </a:r>
                      <a:endParaRPr lang="en-US" sz="11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9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End-to-end design &amp; engineering</a:t>
                      </a:r>
                      <a:endParaRPr lang="en-US" sz="11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91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Ongoing</a:t>
                      </a:r>
                      <a:endParaRPr lang="en-US" sz="11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548640" y="5074920"/>
            <a:ext cx="11109960" cy="1051560"/>
          </a:xfrm>
          <a:prstGeom prst="roundRect">
            <a:avLst>
              <a:gd name="adj" fmla="val 6957"/>
            </a:avLst>
          </a:prstGeom>
          <a:solidFill>
            <a:srgbClr val="0D0D0A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5074920"/>
            <a:ext cx="1554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i="1" dirty="0">
                <a:solidFill>
                  <a:srgbClr val="FFD923"/>
                </a:solidFill>
                <a:latin typeface="Trirong" pitchFamily="34" charset="0"/>
                <a:ea typeface="Trirong" pitchFamily="34" charset="-122"/>
                <a:cs typeface="Trirong" pitchFamily="34" charset="-120"/>
              </a:rPr>
              <a:t>3×</a:t>
            </a:r>
            <a:endParaRPr lang="en-US" sz="4800" dirty="0"/>
          </a:p>
        </p:txBody>
      </p:sp>
      <p:sp>
        <p:nvSpPr>
          <p:cNvPr id="16" name="Text 13"/>
          <p:cNvSpPr/>
          <p:nvPr/>
        </p:nvSpPr>
        <p:spPr>
          <a:xfrm>
            <a:off x="2423160" y="5074920"/>
            <a:ext cx="9052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spc="200" kern="0" dirty="0">
                <a:solidFill>
                  <a:srgbClr val="FFD923"/>
                </a:solidFill>
                <a:latin typeface="Azeret Mono" pitchFamily="34" charset="0"/>
                <a:ea typeface="Azeret Mono" pitchFamily="34" charset="-122"/>
                <a:cs typeface="Azeret Mono" pitchFamily="34" charset="-120"/>
              </a:rPr>
              <a:t>OUTCOME
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EAE9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faster deal-cycle time after modernising a global enterprise commerce platform with a micro-frontend architecture.</a:t>
            </a:r>
            <a:endParaRPr lang="en-US" sz="900" dirty="0"/>
          </a:p>
        </p:txBody>
      </p:sp>
      <p:pic>
        <p:nvPicPr>
          <p:cNvPr id="17" name="Image 0" descr="../assets/intelligaia-logo-wordmark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00800"/>
            <a:ext cx="813816" cy="20025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0817352" y="6355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2"/>
                </a:solidFill>
                <a:latin typeface="Azeret Mono" pitchFamily="34" charset="0"/>
                <a:ea typeface="Azeret Mono" pitchFamily="34" charset="-122"/>
                <a:cs typeface="Azeret Mono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2026-06-29T17:54:34Z</dcterms:created>
  <dcterms:modified xsi:type="dcterms:W3CDTF">2026-06-29T17:54:34Z</dcterms:modified>
</cp:coreProperties>
</file>